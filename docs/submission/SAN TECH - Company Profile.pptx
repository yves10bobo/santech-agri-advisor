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78d818a-1495-b03a-32b1-4b86af0e18b2}">
          <p14:sldIdLst>
            <p14:sldId id="256"/>
          </p14:sldIdLst>
        </p14:section>
        <p14:section name="Institutional overview" id="{e2b65c1b-d5e4-e0e9-381b-c246578e3907}">
          <p14:sldIdLst>
            <p14:sldId id="257"/>
            <p14:sldId id="258"/>
          </p14:sldIdLst>
        </p14:section>
        <p14:section name="Alignment with the vision" id="{d296e35e-fa77-7ef9-17f3-6049ecee4717}">
          <p14:sldIdLst>
            <p14:sldId id="259"/>
            <p14:sldId id="260"/>
            <p14:sldId id="261"/>
            <p14:sldId id="262"/>
            <p14:sldId id="263"/>
          </p14:sldIdLst>
        </p14:section>
        <p14:section name="Track record" id="{b4b6c889-8f12-39bb-b03a-4f678d797ad9}">
          <p14:sldIdLst>
            <p14:sldId id="264"/>
          </p14:sldIdLst>
        </p14:section>
        <p14:section name="Next steps" id="{ae81df4d-3e8a-4e20-3549-ba0e623c25eb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the bracketed contact details and add the SAN TECH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Institutional overview (C4IR asks for this). Replace every bracket with the real company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Team. Fill in names and roles. Remove a card if there are fewer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problem, using C4IR's own figures. This shows we understood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listed here works today and is shown in the demo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brain C4IR scores: prompting, retrieval, knowledge base, guardrails, orchestration.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status: Yes = working today; Partly = part works today, the rest is on the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Maps to C4IR's 'How to show up' slide: ask, check ready, record version and speed, optional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C4IR asks for track record with links. Do not invent projects: if there are none to show, delete the left column and keep 'This product'.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plan from shortlisting to final evaluation, and the contact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SAN TECH · C4IR EOI · AI Agricultural Advisory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hyperlink" Target="https://santech-agri-advisor.vercel.app" TargetMode="External"/><Relationship Id="rId5" Type="http://schemas.openxmlformats.org/officeDocument/2006/relationships/hyperlink" Target="https://santech-agri-api.onrender.com/docs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hyperlink" Target="https://santech-agri-advisor.vercel.app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ircle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log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678485"/>
            <a:ext cx="380390" cy="3803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566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SAN TECH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896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[SAN TECH logo]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Umujyanama w'Ubuhinzi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Kinyarwanda-first AI advisory for Rwanda's smallholder farmers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63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Expression of Interest · AI-Enabled Agricultural Advisory Solution Partner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C4IR / Rwanda AI Scaling Hub · October 2026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[Contact person name]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  ·  </a:t>
            </a:r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[email]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  ·  </a:t>
            </a:r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[phone]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  ·  </a:t>
            </a:r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[website]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are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Company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240280" y="1097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SAN TECH </a:t>
            </a:r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[Ltd / full legal name]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Founded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16459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[year]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· </a:t>
            </a:r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[Kigali, Rwanda]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94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Registration (RDB)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2194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[registration number]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What we do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27432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[e.g. software and AI solutions for Rwandan institutions and businesses]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91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Focus areas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2918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[e.g. AI and data · web and mobile apps · digital public services]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840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Team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38404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[number]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people · </a:t>
            </a:r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[number]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engineers</a:t>
            </a:r>
            <a:endParaRPr lang="en-US" sz="1400" dirty="0"/>
          </a:p>
        </p:txBody>
      </p:sp>
      <p:sp>
        <p:nvSpPr>
          <p:cNvPr id="15" name="mission card"/>
          <p:cNvSpPr/>
          <p:nvPr/>
        </p:nvSpPr>
        <p:spPr>
          <a:xfrm>
            <a:off x="5989320" y="1097280"/>
            <a:ext cx="2697480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16" name="mission circle"/>
          <p:cNvSpPr/>
          <p:nvPr/>
        </p:nvSpPr>
        <p:spPr>
          <a:xfrm>
            <a:off x="6217920" y="12801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miss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8621" y="1400861"/>
            <a:ext cx="261518" cy="26151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2179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Our mission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2194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[e.g. Technology that works for every Rwandan, in Kinyarwanda, on any phone]</a:t>
            </a:r>
            <a:endParaRPr lang="en-US" sz="1400" dirty="0"/>
          </a:p>
        </p:txBody>
      </p:sp>
      <p:sp>
        <p:nvSpPr>
          <p:cNvPr id="20" name="applying card"/>
          <p:cNvSpPr/>
          <p:nvPr/>
        </p:nvSpPr>
        <p:spPr>
          <a:xfrm>
            <a:off x="5989320" y="3520440"/>
            <a:ext cx="2697480" cy="868680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21" name="alone circle"/>
          <p:cNvSpPr/>
          <p:nvPr/>
        </p:nvSpPr>
        <p:spPr>
          <a:xfrm>
            <a:off x="6144768" y="36850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alon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42" y="3816706"/>
            <a:ext cx="285293" cy="28529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812280" y="3657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Applying as SAN TECH alone, not as a consortium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</a:t>
            </a:r>
            <a:endParaRPr lang="en-US" sz="2800" dirty="0"/>
          </a:p>
        </p:txBody>
      </p:sp>
      <p:sp>
        <p:nvSpPr>
          <p:cNvPr id="3" name="team card 1"/>
          <p:cNvSpPr/>
          <p:nvPr/>
        </p:nvSpPr>
        <p:spPr>
          <a:xfrm>
            <a:off x="457200" y="1097280"/>
            <a:ext cx="1920240" cy="26060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4" name="team 1 circle"/>
          <p:cNvSpPr/>
          <p:nvPr/>
        </p:nvSpPr>
        <p:spPr>
          <a:xfrm>
            <a:off x="1097280" y="1280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eam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899" y="143377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4"/>
                </a:solidFill>
              </a:rPr>
              <a:t>[Name]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3957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Software developer · lead engineer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926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Python/FastAPI, AI retrieval (RAG), Next.js, USSD/SMS</a:t>
            </a:r>
            <a:endParaRPr lang="en-US" sz="1100" dirty="0"/>
          </a:p>
        </p:txBody>
      </p:sp>
      <p:sp>
        <p:nvSpPr>
          <p:cNvPr id="9" name="team card 2"/>
          <p:cNvSpPr/>
          <p:nvPr/>
        </p:nvSpPr>
        <p:spPr>
          <a:xfrm>
            <a:off x="2560320" y="1097280"/>
            <a:ext cx="1920240" cy="26060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10" name="team 2 circle"/>
          <p:cNvSpPr/>
          <p:nvPr/>
        </p:nvSpPr>
        <p:spPr>
          <a:xfrm>
            <a:off x="3200400" y="1280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team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019" y="14337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97480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4"/>
                </a:solidFill>
              </a:rPr>
              <a:t>[Name]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23957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4"/>
                </a:solidFill>
              </a:rPr>
              <a:t>[CEO / Managing Director]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697480" y="2926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[business, partnerships]</a:t>
            </a:r>
            <a:endParaRPr lang="en-US" sz="1100" dirty="0"/>
          </a:p>
        </p:txBody>
      </p:sp>
      <p:sp>
        <p:nvSpPr>
          <p:cNvPr id="15" name="team card 3"/>
          <p:cNvSpPr/>
          <p:nvPr/>
        </p:nvSpPr>
        <p:spPr>
          <a:xfrm>
            <a:off x="4663440" y="1097280"/>
            <a:ext cx="1920240" cy="26060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16" name="team 3 circle"/>
          <p:cNvSpPr/>
          <p:nvPr/>
        </p:nvSpPr>
        <p:spPr>
          <a:xfrm>
            <a:off x="5303520" y="1280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team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139" y="143377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00600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4"/>
                </a:solidFill>
              </a:rPr>
              <a:t>[Name]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800600" y="23957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4"/>
                </a:solidFill>
              </a:rPr>
              <a:t>[Role]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800600" y="2926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[skills]</a:t>
            </a:r>
            <a:endParaRPr lang="en-US" sz="1100" dirty="0"/>
          </a:p>
        </p:txBody>
      </p:sp>
      <p:sp>
        <p:nvSpPr>
          <p:cNvPr id="21" name="team card 4"/>
          <p:cNvSpPr/>
          <p:nvPr/>
        </p:nvSpPr>
        <p:spPr>
          <a:xfrm>
            <a:off x="6766560" y="1097280"/>
            <a:ext cx="1920240" cy="26060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22" name="team 4 circle"/>
          <p:cNvSpPr/>
          <p:nvPr/>
        </p:nvSpPr>
        <p:spPr>
          <a:xfrm>
            <a:off x="7406640" y="1280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team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259" y="1433779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03720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accent4"/>
                </a:solidFill>
              </a:rPr>
              <a:t>[Name]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903720" y="23957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4"/>
                </a:solidFill>
              </a:rPr>
              <a:t>[Agronomist / advisor]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903720" y="2926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[crop expertise, RAB experience]</a:t>
            </a:r>
            <a:endParaRPr lang="en-US" sz="1100" dirty="0"/>
          </a:p>
        </p:txBody>
      </p:sp>
      <p:sp>
        <p:nvSpPr>
          <p:cNvPr id="27" name="reviewers card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640080" y="395020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Planned for the project: an agronomist reviewer and a Kinyarwanda language reviewer to validate answers and wording. </a:t>
            </a:r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[Names or partner organisations, if known]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advice isn't reaching farmers on time</a:t>
            </a:r>
            <a:endParaRPr lang="en-US" sz="2800" dirty="0"/>
          </a:p>
        </p:txBody>
      </p:sp>
      <p:sp>
        <p:nvSpPr>
          <p:cNvPr id="3" name="stat 1"/>
          <p:cNvSpPr/>
          <p:nvPr/>
        </p:nvSpPr>
        <p:spPr>
          <a:xfrm>
            <a:off x="457200" y="105156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16128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745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of 3.4 million farmers reached by 16,654 extension agents</a:t>
            </a:r>
            <a:endParaRPr lang="en-US" sz="1100" dirty="0"/>
          </a:p>
        </p:txBody>
      </p:sp>
      <p:sp>
        <p:nvSpPr>
          <p:cNvPr id="6" name="stat 2"/>
          <p:cNvSpPr/>
          <p:nvPr/>
        </p:nvSpPr>
        <p:spPr>
          <a:xfrm>
            <a:off x="2560320" y="105156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97480" y="116128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 10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8745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calls to the agricultural call centre answered</a:t>
            </a:r>
            <a:endParaRPr lang="en-US" sz="1100" dirty="0"/>
          </a:p>
        </p:txBody>
      </p:sp>
      <p:sp>
        <p:nvSpPr>
          <p:cNvPr id="9" name="stat 3"/>
          <p:cNvSpPr/>
          <p:nvPr/>
        </p:nvSpPr>
        <p:spPr>
          <a:xfrm>
            <a:off x="4663440" y="105156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00600" y="116128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+38%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8745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yields among farmers served by Twigire Muhinzi</a:t>
            </a:r>
            <a:endParaRPr lang="en-US" sz="1100" dirty="0"/>
          </a:p>
        </p:txBody>
      </p:sp>
      <p:sp>
        <p:nvSpPr>
          <p:cNvPr id="12" name="stat 4"/>
          <p:cNvSpPr/>
          <p:nvPr/>
        </p:nvSpPr>
        <p:spPr>
          <a:xfrm>
            <a:off x="6766560" y="105156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903720" y="116128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+75%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8745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milk production among the farmers it serves</a:t>
            </a:r>
            <a:endParaRPr lang="en-US" sz="1100" dirty="0"/>
          </a:p>
        </p:txBody>
      </p:sp>
      <p:sp>
        <p:nvSpPr>
          <p:cNvPr id="15" name="gap 1 circle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ga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35808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24128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Generic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24128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Not tailored to a farmer's soil, crop or region</a:t>
            </a:r>
            <a:endParaRPr lang="en-US" sz="1100" dirty="0"/>
          </a:p>
        </p:txBody>
      </p:sp>
      <p:sp>
        <p:nvSpPr>
          <p:cNvPr id="19" name="gap 2 circle"/>
          <p:cNvSpPr/>
          <p:nvPr/>
        </p:nvSpPr>
        <p:spPr>
          <a:xfrm>
            <a:off x="3246120" y="29260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ga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3035808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3813048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Not personalised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3813048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Too few experts to fit answers to each farm</a:t>
            </a:r>
            <a:endParaRPr lang="en-US" sz="1100" dirty="0"/>
          </a:p>
        </p:txBody>
      </p:sp>
      <p:sp>
        <p:nvSpPr>
          <p:cNvPr id="23" name="gap 3 circle"/>
          <p:cNvSpPr/>
          <p:nvPr/>
        </p:nvSpPr>
        <p:spPr>
          <a:xfrm>
            <a:off x="6035040" y="29260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4" name="ga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3035808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601968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 feedback loop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6601968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Farmers' problems don't reach MINAGRI and RAB in real time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Our goal: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farmer gets timely, safe advice in Kinyarwanda on the phone they own, and their real questions reach the people who set policy.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4434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5"/>
                </a:solidFill>
              </a:rPr>
              <a:t>Figures: C4IR info session, 1 October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 brain, every user group, live today</a:t>
            </a:r>
            <a:endParaRPr lang="en-US" sz="2800" dirty="0"/>
          </a:p>
        </p:txBody>
      </p:sp>
      <p:sp>
        <p:nvSpPr>
          <p:cNvPr id="3" name="group 1"/>
          <p:cNvSpPr/>
          <p:nvPr/>
        </p:nvSpPr>
        <p:spPr>
          <a:xfrm>
            <a:off x="457200" y="105156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4" name="group icon 1 circle"/>
          <p:cNvSpPr/>
          <p:nvPr/>
        </p:nvSpPr>
        <p:spPr>
          <a:xfrm>
            <a:off x="640080" y="120700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group ic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327709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2618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Farmers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Chat in Kinyarwanda and English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Voice in and out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Photo of a sick plant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USSD and SMS on basic phones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"My farm" profile for personalised advice</a:t>
            </a:r>
            <a:endParaRPr lang="en-US" sz="1200" dirty="0"/>
          </a:p>
        </p:txBody>
      </p:sp>
      <p:sp>
        <p:nvSpPr>
          <p:cNvPr id="8" name="group 2"/>
          <p:cNvSpPr/>
          <p:nvPr/>
        </p:nvSpPr>
        <p:spPr>
          <a:xfrm>
            <a:off x="3246120" y="105156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9" name="group icon 2 circle"/>
          <p:cNvSpPr/>
          <p:nvPr/>
        </p:nvSpPr>
        <p:spPr>
          <a:xfrm>
            <a:off x="3429000" y="120700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group ic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701" y="1327709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50792" y="12618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Extension officers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8745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Digital field records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Photo second opinion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Knowledge refresher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Escalate recurring issues</a:t>
            </a:r>
            <a:endParaRPr lang="en-US" sz="1200" dirty="0"/>
          </a:p>
        </p:txBody>
      </p:sp>
      <p:sp>
        <p:nvSpPr>
          <p:cNvPr id="13" name="group 3"/>
          <p:cNvSpPr/>
          <p:nvPr/>
        </p:nvSpPr>
        <p:spPr>
          <a:xfrm>
            <a:off x="6035040" y="105156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14" name="group icon 3 circle"/>
          <p:cNvSpPr/>
          <p:nvPr/>
        </p:nvSpPr>
        <p:spPr>
          <a:xfrm>
            <a:off x="6217920" y="120700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group ic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621" y="1327709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39712" y="12618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MINAGRI and RAB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8745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What farmers ask, live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Trends by crop, topic, channel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Pests seen in photos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Knowledge gaps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Answer officers' escalations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Live: </a:t>
            </a:r>
            <a:pPr indent="0" marL="0">
              <a:buNone/>
            </a:pPr>
            <a:r>
              <a:rPr lang="en-US" sz="1300" u="sng" dirty="0">
                <a:solidFill>
                  <a:schemeClr val="accent3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santech-agri-advisor.vercel.app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     API: </a:t>
            </a:r>
            <a:pPr indent="0" marL="0">
              <a:buNone/>
            </a:pPr>
            <a:r>
              <a:rPr lang="en-US" sz="1300" u="sng" dirty="0">
                <a:solidFill>
                  <a:schemeClr val="accent3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santech-agri-api.onrender.com/docs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step 1 circle"/>
          <p:cNvSpPr/>
          <p:nvPr/>
        </p:nvSpPr>
        <p:spPr>
          <a:xfrm>
            <a:off x="868680" y="1097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261872"/>
            <a:ext cx="356616" cy="356616"/>
          </a:xfrm>
          <a:prstGeom prst="rect">
            <a:avLst/>
          </a:prstGeom>
        </p:spPr>
      </p:pic>
      <p:sp>
        <p:nvSpPr>
          <p:cNvPr id="5" name="arrow 1"/>
          <p:cNvSpPr/>
          <p:nvPr/>
        </p:nvSpPr>
        <p:spPr>
          <a:xfrm>
            <a:off x="1709928" y="1325880"/>
            <a:ext cx="329184" cy="2286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9019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1. Understand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2402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Detects language, crop, season and which of the 8 advisory topics</a:t>
            </a:r>
            <a:endParaRPr lang="en-US" sz="1100" dirty="0"/>
          </a:p>
        </p:txBody>
      </p:sp>
      <p:sp>
        <p:nvSpPr>
          <p:cNvPr id="8" name="step 2 circle"/>
          <p:cNvSpPr/>
          <p:nvPr/>
        </p:nvSpPr>
        <p:spPr>
          <a:xfrm>
            <a:off x="2551176" y="1097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1261872"/>
            <a:ext cx="356616" cy="356616"/>
          </a:xfrm>
          <a:prstGeom prst="rect">
            <a:avLst/>
          </a:prstGeom>
        </p:spPr>
      </p:pic>
      <p:sp>
        <p:nvSpPr>
          <p:cNvPr id="10" name="arrow 2"/>
          <p:cNvSpPr/>
          <p:nvPr/>
        </p:nvSpPr>
        <p:spPr>
          <a:xfrm>
            <a:off x="3392424" y="1325880"/>
            <a:ext cx="329184" cy="2286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2139696" y="19019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2. Retrieve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2402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Searches 17 Rwanda documents in Kinyarwanda and English</a:t>
            </a:r>
            <a:endParaRPr lang="en-US" sz="1100" dirty="0"/>
          </a:p>
        </p:txBody>
      </p:sp>
      <p:sp>
        <p:nvSpPr>
          <p:cNvPr id="13" name="step 3 circle"/>
          <p:cNvSpPr/>
          <p:nvPr/>
        </p:nvSpPr>
        <p:spPr>
          <a:xfrm>
            <a:off x="4233672" y="1097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261872"/>
            <a:ext cx="356616" cy="356616"/>
          </a:xfrm>
          <a:prstGeom prst="rect">
            <a:avLst/>
          </a:prstGeom>
        </p:spPr>
      </p:pic>
      <p:sp>
        <p:nvSpPr>
          <p:cNvPr id="15" name="arrow 3"/>
          <p:cNvSpPr/>
          <p:nvPr/>
        </p:nvSpPr>
        <p:spPr>
          <a:xfrm>
            <a:off x="5074920" y="1325880"/>
            <a:ext cx="329184" cy="2286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3822192" y="19019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3. Answer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3822192" y="22402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Built on the 9 scoring criteria, fitted to the farm</a:t>
            </a:r>
            <a:endParaRPr lang="en-US" sz="1100" dirty="0"/>
          </a:p>
        </p:txBody>
      </p:sp>
      <p:sp>
        <p:nvSpPr>
          <p:cNvPr id="18" name="step 4 circle"/>
          <p:cNvSpPr/>
          <p:nvPr/>
        </p:nvSpPr>
        <p:spPr>
          <a:xfrm>
            <a:off x="5916168" y="1097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261872"/>
            <a:ext cx="356616" cy="356616"/>
          </a:xfrm>
          <a:prstGeom prst="rect">
            <a:avLst/>
          </a:prstGeom>
        </p:spPr>
      </p:pic>
      <p:sp>
        <p:nvSpPr>
          <p:cNvPr id="20" name="arrow 4"/>
          <p:cNvSpPr/>
          <p:nvPr/>
        </p:nvSpPr>
        <p:spPr>
          <a:xfrm>
            <a:off x="6757416" y="1325880"/>
            <a:ext cx="329184" cy="2286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5504688" y="19019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4. Guard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504688" y="22402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Safety warnings, no invented doses, agronomist referral</a:t>
            </a:r>
            <a:endParaRPr lang="en-US" sz="1100" dirty="0"/>
          </a:p>
        </p:txBody>
      </p:sp>
      <p:sp>
        <p:nvSpPr>
          <p:cNvPr id="23" name="step 5 circle"/>
          <p:cNvSpPr/>
          <p:nvPr/>
        </p:nvSpPr>
        <p:spPr>
          <a:xfrm>
            <a:off x="7598664" y="1097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step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3256" y="1261872"/>
            <a:ext cx="356616" cy="35661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87184" y="19019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5. Log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7187184" y="22402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Model, version and speed on every answer; dashboards</a:t>
            </a:r>
            <a:endParaRPr lang="en-US" sz="1100" dirty="0"/>
          </a:p>
        </p:txBody>
      </p:sp>
      <p:sp>
        <p:nvSpPr>
          <p:cNvPr id="27" name="sources card"/>
          <p:cNvSpPr/>
          <p:nvPr/>
        </p:nvSpPr>
        <p:spPr>
          <a:xfrm>
            <a:off x="457200" y="333756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640080" y="34290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Grounded in Rwandan guidance: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RAB, MINAGRI, CGIAR, CIP, FAO and CIAT documents, with sources shown on every answer.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Reliable: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backup models when one is overloaded, an answer even if search fails, health checks.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Model-independent: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any compatible model, including one hosted in Rwanda, by changing one setting.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with C4IR's vision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80060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C4IR asks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 TECH today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AI in Kinyarwanda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Kinyarwanda-first, tested side by side with 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voice (Layer 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Kinyarwanda speech-to-text and text-to-speech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Image-based pest identification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 diagnosis with a confidence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Multi-channel 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Web, USSD and SMS · WhatsApp and IVR planned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Crops, pests, weather, inputs, 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Crops and pests strong · live weather and market data planned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Farmers, extension, MINAGRI/RAB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working dashboard for each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Rwanda's data law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phone numbers, names or photos stored · Rwanda hosting planned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Offline-tolerant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USSD and SMS work without internet · offline app planned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 preferred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[Open source under (licence) / available to C4IR on request]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i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[Yes]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the benchmark</a:t>
            </a:r>
            <a:endParaRPr lang="en-US" sz="2800" dirty="0"/>
          </a:p>
        </p:txBody>
      </p:sp>
      <p:sp>
        <p:nvSpPr>
          <p:cNvPr id="3" name="api card"/>
          <p:cNvSpPr/>
          <p:nvPr/>
        </p:nvSpPr>
        <p:spPr>
          <a:xfrm>
            <a:off x="457200" y="1051560"/>
            <a:ext cx="420624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4" name="api circle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pi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2984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One secure API (X-API-Key)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/ask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606040" y="1828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Farmer questions, EN + RW, follow-ups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34086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/health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606040" y="234086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Readiness check before each run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85292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/version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606040" y="28529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Model and prompt version on every answer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3649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latency_ms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606040" y="33649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Speed recorded for every answer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87705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/transcribe, /speak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606040" y="387705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Optional voice in and out</a:t>
            </a:r>
            <a:endParaRPr lang="en-US" sz="1200" dirty="0"/>
          </a:p>
        </p:txBody>
      </p:sp>
      <p:sp>
        <p:nvSpPr>
          <p:cNvPr id="17" name="delta card"/>
          <p:cNvSpPr/>
          <p:nvPr/>
        </p:nvSpPr>
        <p:spPr>
          <a:xfrm>
            <a:off x="4892040" y="1051560"/>
            <a:ext cx="379476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074920" y="1188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Final − Baseline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5074920" y="1783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C4IR's local data (crop registry, soil data, pest registry, QA pairs) goes into our knowledge base with one script, with no code changes.</a:t>
            </a:r>
            <a:endParaRPr lang="en-US" sz="1200" dirty="0"/>
          </a:p>
        </p:txBody>
      </p:sp>
      <p:sp>
        <p:nvSpPr>
          <p:cNvPr id="20" name="selftest card"/>
          <p:cNvSpPr/>
          <p:nvPr/>
        </p:nvSpPr>
        <p:spPr>
          <a:xfrm>
            <a:off x="4892040" y="2834640"/>
            <a:ext cx="3794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074920" y="2834640"/>
            <a:ext cx="1188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400" dirty="0"/>
          </a:p>
        </p:txBody>
      </p:sp>
      <p:sp>
        <p:nvSpPr>
          <p:cNvPr id="22" name="Text 19"/>
          <p:cNvSpPr txBox="1"/>
          <p:nvPr/>
        </p:nvSpPr>
        <p:spPr>
          <a:xfrm>
            <a:off x="6217920" y="283464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questions we already test ourselves on: 3 crops × 8 topics, in English and Kinyarwanda, with a side-by-side scorecard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record</a:t>
            </a:r>
            <a:endParaRPr lang="en-US" sz="2800" dirty="0"/>
          </a:p>
        </p:txBody>
      </p:sp>
      <p:sp>
        <p:nvSpPr>
          <p:cNvPr id="3" name="project 1"/>
          <p:cNvSpPr/>
          <p:nvPr/>
        </p:nvSpPr>
        <p:spPr>
          <a:xfrm>
            <a:off x="457200" y="1051560"/>
            <a:ext cx="42976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4" name="project icon 1 circle"/>
          <p:cNvSpPr/>
          <p:nvPr/>
        </p:nvSpPr>
        <p:spPr>
          <a:xfrm>
            <a:off x="594360" y="1207008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5" name="project ic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316736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4"/>
                </a:solidFill>
              </a:rPr>
              <a:t>[Project 1]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4356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[Client · what we built · year]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· </a:t>
            </a:r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[Users / result]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· </a:t>
            </a:r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[link]</a:t>
            </a:r>
            <a:endParaRPr lang="en-US" sz="1100" dirty="0"/>
          </a:p>
        </p:txBody>
      </p:sp>
      <p:sp>
        <p:nvSpPr>
          <p:cNvPr id="8" name="project 2"/>
          <p:cNvSpPr/>
          <p:nvPr/>
        </p:nvSpPr>
        <p:spPr>
          <a:xfrm>
            <a:off x="457200" y="1965960"/>
            <a:ext cx="42976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9" name="project icon 2 circle"/>
          <p:cNvSpPr/>
          <p:nvPr/>
        </p:nvSpPr>
        <p:spPr>
          <a:xfrm>
            <a:off x="594360" y="2121408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project ic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23113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4"/>
                </a:solidFill>
              </a:rPr>
              <a:t>[Project 2]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188720" y="2350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[Client · what we built · year]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· </a:t>
            </a:r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[Users / result]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· </a:t>
            </a:r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[link]</a:t>
            </a:r>
            <a:endParaRPr lang="en-US" sz="1100" dirty="0"/>
          </a:p>
        </p:txBody>
      </p:sp>
      <p:sp>
        <p:nvSpPr>
          <p:cNvPr id="13" name="project 3"/>
          <p:cNvSpPr/>
          <p:nvPr/>
        </p:nvSpPr>
        <p:spPr>
          <a:xfrm>
            <a:off x="457200" y="2880360"/>
            <a:ext cx="42976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14" name="project icon 3 circle"/>
          <p:cNvSpPr/>
          <p:nvPr/>
        </p:nvSpPr>
        <p:spPr>
          <a:xfrm>
            <a:off x="594360" y="3035808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project ic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14553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4"/>
                </a:solidFill>
              </a:rPr>
              <a:t>[Project 3]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188720" y="3264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[Client · what we built · year]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· </a:t>
            </a:r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[Users / result]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· </a:t>
            </a:r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[link]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840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Partners and clients: </a:t>
            </a:r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[names]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160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Delivered at scale: </a:t>
            </a:r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[e.g. X users, Y districts]</a:t>
            </a:r>
            <a:endParaRPr lang="en-US" sz="1200" dirty="0"/>
          </a:p>
        </p:txBody>
      </p:sp>
      <p:sp>
        <p:nvSpPr>
          <p:cNvPr id="20" name="this product card"/>
          <p:cNvSpPr/>
          <p:nvPr/>
        </p:nvSpPr>
        <p:spPr>
          <a:xfrm>
            <a:off x="4983480" y="1051560"/>
            <a:ext cx="3703320" cy="338328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 w="9525">
            <a:solidFill>
              <a:srgbClr val="DBE4D5"/>
            </a:solidFill>
            <a:prstDash val="solid"/>
          </a:ln>
          <a:effectLst>
            <a:outerShdw sx="100000" sy="100000" kx="0" ky="0" algn="bl" rotWithShape="0" blurRad="76200" dist="25400" dir="5400000">
              <a:srgbClr val="1D4A2E">
                <a:alpha val="8000"/>
              </a:srgbClr>
            </a:outerShdw>
          </a:effectLst>
        </p:spPr>
      </p:sp>
      <p:sp>
        <p:nvSpPr>
          <p:cNvPr id="21" name="this product circle"/>
          <p:cNvSpPr/>
          <p:nvPr/>
        </p:nvSpPr>
        <p:spPr>
          <a:xfrm>
            <a:off x="5166360" y="120700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this product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8034" y="1338682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852160" y="1261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This product: built and live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166360" y="1901952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Web chat, voice, photo diagnosis, USSD and SMS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Dashboards for farmers, extension officers and MINAGRI/RAB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28 automated tests · 50-question bilingual self-benchmark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Full documentation: setup, API, architecture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166360" y="36118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chemeClr val="accent2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santech-agri-advisor.vercel.app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[github.com/YVES10BOBO/santech-agri-advisor, if public]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commitment and next steps</a:t>
            </a:r>
            <a:endParaRPr lang="en-US" sz="3000" dirty="0"/>
          </a:p>
        </p:txBody>
      </p:sp>
      <p:sp>
        <p:nvSpPr>
          <p:cNvPr id="3" name="timeline"/>
          <p:cNvSpPr/>
          <p:nvPr/>
        </p:nvSpPr>
        <p:spPr>
          <a:xfrm>
            <a:off x="868680" y="1463040"/>
            <a:ext cx="69494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4" name="step dot 1"/>
          <p:cNvSpPr/>
          <p:nvPr/>
        </p:nvSpPr>
        <p:spPr>
          <a:xfrm>
            <a:off x="685800" y="1261872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Onboarding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9–14 Oct: API access for C4IR, data sharing agreement</a:t>
            </a:r>
            <a:endParaRPr lang="en-US" sz="1200" dirty="0"/>
          </a:p>
        </p:txBody>
      </p:sp>
      <p:sp>
        <p:nvSpPr>
          <p:cNvPr id="8" name="step dot 2"/>
          <p:cNvSpPr/>
          <p:nvPr/>
        </p:nvSpPr>
        <p:spPr>
          <a:xfrm>
            <a:off x="2743200" y="1261872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43200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783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Baseline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1031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Benchmark on our solution as it is</a:t>
            </a:r>
            <a:endParaRPr lang="en-US" sz="1200" dirty="0"/>
          </a:p>
        </p:txBody>
      </p:sp>
      <p:sp>
        <p:nvSpPr>
          <p:cNvPr id="12" name="step dot 3"/>
          <p:cNvSpPr/>
          <p:nvPr/>
        </p:nvSpPr>
        <p:spPr>
          <a:xfrm>
            <a:off x="4800600" y="1261872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783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Augmentation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1031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Add C4IR data; agronomist and native-speaker review</a:t>
            </a:r>
            <a:endParaRPr lang="en-US" sz="1200" dirty="0"/>
          </a:p>
        </p:txBody>
      </p:sp>
      <p:sp>
        <p:nvSpPr>
          <p:cNvPr id="16" name="step dot 4"/>
          <p:cNvSpPr/>
          <p:nvPr/>
        </p:nvSpPr>
        <p:spPr>
          <a:xfrm>
            <a:off x="6858000" y="1261872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783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Final evaluation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1031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Measure and report our improvement (Δ)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063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For production: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hosting and data in Rwanda · logins and roles · WhatsApp and IVR · weather alerts · input and market data · offline app for extension officers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Murakoze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[Name]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  ·  </a:t>
            </a:r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[email]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  ·  </a:t>
            </a:r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[phone]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  ·  </a:t>
            </a:r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[website]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N TECH Terraces">
  <a:themeElements>
    <a:clrScheme name="SAN TECH Terraces">
      <a:dk1>
        <a:srgbClr val="1B2A20"/>
      </a:dk1>
      <a:lt1>
        <a:srgbClr val="FFFFFF"/>
      </a:lt1>
      <a:dk2>
        <a:srgbClr val="1D4A2E"/>
      </a:dk2>
      <a:lt2>
        <a:srgbClr val="F3F6F1"/>
      </a:lt2>
      <a:accent1>
        <a:srgbClr val="3D7D45"/>
      </a:accent1>
      <a:accent2>
        <a:srgbClr val="F2C230"/>
      </a:accent2>
      <a:accent3>
        <a:srgbClr val="2B6339"/>
      </a:accent3>
      <a:accent4>
        <a:srgbClr val="B7791F"/>
      </a:accent4>
      <a:accent5>
        <a:srgbClr val="55665A"/>
      </a:accent5>
      <a:accent6>
        <a:srgbClr val="E3ECDD"/>
      </a:accent6>
      <a:hlink>
        <a:srgbClr val="2B6339"/>
      </a:hlink>
      <a:folHlink>
        <a:srgbClr val="3D7D45"/>
      </a:folHlink>
    </a:clrScheme>
    <a:fontScheme name="SAN TECH Terrac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SAN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 TECH - Company Profile - C4IR EOI</dc:title>
  <dc:subject>PptxGenJS Presentation</dc:subject>
  <dc:creator>SAN TECH</dc:creator>
  <cp:lastModifiedBy>SAN TECH</cp:lastModifiedBy>
  <cp:revision>1</cp:revision>
  <dcterms:created xsi:type="dcterms:W3CDTF">2026-10-06T07:07:49Z</dcterms:created>
  <dcterms:modified xsi:type="dcterms:W3CDTF">2026-10-06T07:07:49Z</dcterms:modified>
</cp:coreProperties>
</file>